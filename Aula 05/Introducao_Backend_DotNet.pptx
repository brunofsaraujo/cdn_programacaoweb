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customXml" Target="../customXml/item3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24" Type="http://schemas.openxmlformats.org/officeDocument/2006/relationships/customXml" Target="../customXml/item2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23" Type="http://schemas.openxmlformats.org/officeDocument/2006/relationships/customXml" Target="../customXml/item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  <a:latin typeface="Georgia"/>
              </a:defRPr>
            </a:pPr>
            <a:r>
              <a:t>Introdução ao Backend com .NET e C#</a:t>
            </a:r>
          </a:p>
          <a:p>
            <a:pPr>
              <a:spcAft>
                <a:spcPts val="2800"/>
              </a:spcAft>
              <a:defRPr sz="1800">
                <a:solidFill>
                  <a:srgbClr val="C7D2FE"/>
                </a:solidFill>
                <a:latin typeface="Verdana"/>
              </a:defRPr>
            </a:pPr>
            <a:r>
              <a:t>Roteiro de Aula Prática: Conceitos, Arquitetura e Primeira API em .NET</a:t>
            </a:r>
          </a:p>
          <a:p>
            <a:pPr>
              <a:defRPr sz="1300">
                <a:solidFill>
                  <a:srgbClr val="64748B"/>
                </a:solidFill>
                <a:latin typeface="Verdana"/>
              </a:defRPr>
            </a:pPr>
            <a:r>
              <a:t>Programação Web • Duração Sugerida: ~4 Horas • C# + .NET + VS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371600" cy="50800"/>
          </a:xfrm>
          <a:prstGeom prst="rect">
            <a:avLst/>
          </a:prstGeom>
          <a:solidFill>
            <a:srgbClr val="512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A aula de 4 horas estrutura a transição do Frontend ao desenvolvimento de APIs em .NET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Parte 1: Fundamentos Teóricos (~145 min)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1. O que eles já conhecem (20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Revisão de HTML, CSS e JS; a provocação do armazenamento.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2. O que é Backend? (25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Processamento no servidor, regras de negócio e responsabilidades.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3. Cliente e Servidor (20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Requisição/resposta e a analogia do restaurante.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4. O que é API e JSON (25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Comunicação entre sistemas e estrutura de dados JSON.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5. HTTP e Status (40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Métodos GET, POST, PUT, DELETE (CRUD) e códigos de status.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6. O que é .NET? (20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Ecossistema: C#, .NET, ASP.NET Core e VS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Parte 2: Mão na Massa (~95 min)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8. Verificando o ambiente (20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Checagem do SDK com 'dotnet --version' e 'dotnet --info'.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9. Extensão C# no VS Code (10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Instalação da extensão oficial da Microsoft.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10. Primeiro programa em C# (20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Aplicação Console 'Hello World' e 'dotnet run'.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11. Criando a Primeira API (35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Projeto 'dotnet new web' e Minimal API no Program.cs.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12. Endpoints e JSON (10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Criando rotas '/aluno' e '/produto' retornando dados JSON.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13. Parâmetros de Rota (10 min)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 Endpoint dinâmico '/produto/{id}' recebendo dados.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A navegação Web evolui do armazenamento local para o processamento centralizado no servidor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728655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512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200" b="1">
                <a:solidFill>
                  <a:srgbClr val="512BD4"/>
                </a:solidFill>
                <a:latin typeface="Verdana"/>
              </a:defRPr>
            </a:pPr>
            <a:r>
              <a:t>Pergunta Disparadora para a Turma:</a:t>
            </a:r>
          </a:p>
          <a:p>
            <a:pPr>
              <a:defRPr sz="1600" b="1">
                <a:solidFill>
                  <a:srgbClr val="0F172A"/>
                </a:solidFill>
                <a:latin typeface="Georgia"/>
              </a:defRPr>
            </a:pPr>
            <a:r>
              <a:t>“Se eu fizer um formulário de cadastro em HTML e JavaScript e fechar o navegador, onde os dados ficaram?”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291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512BD4"/>
                </a:solidFill>
                <a:latin typeface="Georgia"/>
              </a:defRPr>
            </a:pPr>
            <a:r>
              <a:t>O que eles já conhecem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• HTML: Estrutura da página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• CSS: Aparência e estilo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• JavaScript: Comportamento no navegador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200400"/>
            <a:ext cx="3291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DC2626"/>
                </a:solidFill>
                <a:latin typeface="Georgia"/>
              </a:defRPr>
            </a:pPr>
            <a:r>
              <a:t>A Limitação do Frontend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Tudo o que acontece apenas no navegador é volátil e local. Fechar a aba apaga os dados da memória do cliente.</a:t>
            </a:r>
            <a:br/>
            <a:br/>
            <a:r>
              <a:t>Para ter persistência, segurança e regras centralizadas, precisamos de um servidor.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200400"/>
            <a:ext cx="329184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O Fluxo de Dados Completo</a:t>
            </a:r>
          </a:p>
          <a:p>
            <a:pPr>
              <a:defRPr sz="1100" b="1">
                <a:solidFill>
                  <a:srgbClr val="512BD4"/>
                </a:solidFill>
                <a:latin typeface="Verdana"/>
              </a:defRPr>
            </a:pPr>
            <a:r>
              <a:t>USUÁRIO</a:t>
            </a:r>
            <a:br/>
            <a:r>
              <a:t>  ↓ (interação no navegador)</a:t>
            </a:r>
            <a:br/>
            <a:r>
              <a:t>FRONTEND (HTML/CSS/JS)</a:t>
            </a:r>
            <a:br/>
            <a:r>
              <a:t>  ↓ (requisição HTTP)</a:t>
            </a:r>
            <a:br/>
            <a:r>
              <a:t>BACKEND (C# / .NET)</a:t>
            </a:r>
            <a:br/>
            <a:r>
              <a:t>  ↓ (persistência)</a:t>
            </a:r>
            <a:br/>
            <a:r>
              <a:t>BANCO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O Backend gerencia regras de negócio, segurança e persiste dados longe do cliente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512BD4"/>
                </a:solidFill>
                <a:latin typeface="Georgia"/>
              </a:defRPr>
            </a:pPr>
            <a:r>
              <a:t>Definição de Backend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Backend é a camada da aplicação que roda no servidor, responsável por:</a:t>
            </a:r>
            <a:br/>
            <a:br/>
            <a:r>
              <a:t>1. Receber solicitações do frontend</a:t>
            </a:r>
            <a:br/>
            <a:r>
              <a:t>2. Processar regras de negócio</a:t>
            </a:r>
            <a:br/>
            <a:r>
              <a:t>3. Validar e proteger informações</a:t>
            </a:r>
            <a:br/>
            <a:r>
              <a:t>4. Acessar fontes de dados (BDs)</a:t>
            </a:r>
            <a:br/>
            <a:r>
              <a:t>5. Devolver uma resposta estruturada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82880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Regras de Negócio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Cálculos, validações e lógicas específicas da aplicação.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82880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Autenticação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Identificação de quem está acessando o sistema (login).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92608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Autorização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Controle de permissões para cada tipo de usuário.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92608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Validação de Dados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Garantia de integridade e formato dos dados recebidos.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402336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Acesso ao Banco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Leitura e escrita de informações persistentes.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402336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Processamento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Manipulação intensiva de informações no servidor.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512064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Integração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Comunicação com serviços externos e APIs de terceiros.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5120640"/>
            <a:ext cx="3108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100" b="1">
                <a:solidFill>
                  <a:srgbClr val="512BD4"/>
                </a:solidFill>
                <a:latin typeface="Verdana"/>
              </a:defRPr>
            </a:pPr>
            <a:r>
              <a:t>Disponibilização de APIs</a:t>
            </a:r>
          </a:p>
          <a:p>
            <a:pPr>
              <a:defRPr sz="900">
                <a:solidFill>
                  <a:srgbClr val="64748B"/>
                </a:solidFill>
                <a:latin typeface="Verdana"/>
              </a:defRPr>
            </a:pPr>
            <a:r>
              <a:t>Criação de endpoints para o frontend consumir.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Frontend e Backend dividem tarefas entre a interface do usuário e o processamento de dados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77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992270"/>
                <a:gridCol w="399227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FRONTEND (Navegador)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BACKEND (Servidor)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Linguagens e Tecnologias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HTML, CSS, 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C#, .NET, ASP.NET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Foco Principal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Interface do Usuário (UI/UX)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Regras de Negócio e APIs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Elementos Típicos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Botões, Formulários, Gráficos, Estilos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Processamento, Segurança, Validação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Armazenamento de Dados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Volátil / Local (Sessão do Navegador)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Persistente (Banco de Dados)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A arquitetura cliente-servidor funciona como o fluxo de atendimento em um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Conceitos Fundamentais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Cliente:</a:t>
            </a:r>
            <a:br/>
            <a:r>
              <a:t>  Quem solicita algum recurso ou serviço (navegador, app mobile, outro sistema).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  <a:latin typeface="Verdana"/>
              </a:defRPr>
            </a:pPr>
            <a:r>
              <a:t>• Servidor:</a:t>
            </a:r>
            <a:br/>
            <a:r>
              <a:t>  Quem recebe a solicitação, executa o processamento e devolve uma resposta adequada.</a:t>
            </a:r>
          </a:p>
          <a:p>
            <a:pPr>
              <a:defRPr sz="1100" b="1">
                <a:solidFill>
                  <a:srgbClr val="512BD4"/>
                </a:solidFill>
                <a:latin typeface="Verdana"/>
              </a:defRPr>
            </a:pPr>
            <a:r>
              <a:t>Fluxo: Cliente  ──(Requisição)──&gt;  Servidor</a:t>
            </a:r>
            <a:br/>
            <a:r>
              <a:t>         Cliente  &lt;──(Resposta)────  Servidor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512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Analogia do Restaurante 🍽️</a:t>
            </a:r>
          </a:p>
          <a:p>
            <a:pPr>
              <a:defRPr sz="1200" b="1">
                <a:solidFill>
                  <a:srgbClr val="512BD4"/>
                </a:solidFill>
                <a:latin typeface="Verdana"/>
              </a:defRPr>
            </a:pPr>
            <a:r>
              <a:t>• Cliente no Restaurante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   = Cliente (Navegador/Frontend) que deseja consumir algo.</a:t>
            </a:r>
          </a:p>
          <a:p>
            <a:pPr>
              <a:defRPr sz="1200" b="1">
                <a:solidFill>
                  <a:srgbClr val="512BD4"/>
                </a:solidFill>
                <a:latin typeface="Verdana"/>
              </a:defRPr>
            </a:pPr>
            <a:r>
              <a:t>• Garçom (Cardápio / API)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   = API e Garçom que levam o pedido padronizado ao local correto.</a:t>
            </a:r>
          </a:p>
          <a:p>
            <a:pPr>
              <a:defRPr sz="1200" b="1">
                <a:solidFill>
                  <a:srgbClr val="512BD4"/>
                </a:solidFill>
                <a:latin typeface="Verdana"/>
              </a:defRPr>
            </a:pPr>
            <a:r>
              <a:t>• Cozinha do Restaurante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   = Servidor / Backend que prepara e processa o pedido.</a:t>
            </a:r>
          </a:p>
          <a:p>
            <a:pPr>
              <a:defRPr sz="1200" b="1">
                <a:solidFill>
                  <a:srgbClr val="512BD4"/>
                </a:solidFill>
                <a:latin typeface="Verdana"/>
              </a:defRPr>
            </a:pPr>
            <a:r>
              <a:t>• Prato Servido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   = Resposta com Dados (JSON) retornada ao cliente.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APIs padronizam a comunicação entre sistemas utilizando o formato estruturado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O que é uma API?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API (Application Programming Interface) é uma interface que permite a comunicação entre sistemas diferentes seguindo regras pré-definidas.</a:t>
            </a:r>
            <a:br/>
            <a:br/>
            <a:r>
              <a:t>• O Frontend pede: "Quero a lista de produtos"</a:t>
            </a:r>
            <a:br/>
            <a:r>
              <a:t>• Enviado via: GET /produtos</a:t>
            </a:r>
            <a:br/>
            <a:r>
              <a:t>• A API .NET processa e responde em JSON.</a:t>
            </a:r>
          </a:p>
          <a:p>
            <a:pPr>
              <a:defRPr sz="1100" b="1">
                <a:solidFill>
                  <a:srgbClr val="512BD4"/>
                </a:solidFill>
                <a:latin typeface="Verdana"/>
              </a:defRPr>
            </a:pPr>
            <a:r>
              <a:t>💡 Associação para a Turma:</a:t>
            </a:r>
            <a:br/>
            <a:r>
              <a:t>O formato JSON é idêntico à estrutura de Objetos Literais em JavaScript, facilitando a manipulação no frontend.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Exemplo de Resposta em JSON</a:t>
            </a:r>
          </a:p>
          <a:p>
            <a:pPr>
              <a:defRPr sz="1300">
                <a:solidFill>
                  <a:srgbClr val="38BDF8"/>
                </a:solidFill>
                <a:latin typeface="Consolas"/>
              </a:defRPr>
            </a:pPr>
            <a:r>
              <a:t>[</a:t>
            </a:r>
            <a:br/>
            <a:r>
              <a:t>  {</a:t>
            </a:r>
            <a:br/>
            <a:r>
              <a:t>    "id": 1,</a:t>
            </a:r>
            <a:br/>
            <a:r>
              <a:t>    "nome": "Notebook",</a:t>
            </a:r>
            <a:br/>
            <a:r>
              <a:t>    "preco": 3500.00,</a:t>
            </a:r>
            <a:br/>
            <a:r>
              <a:t>    "estoque": 12</a:t>
            </a:r>
            <a:br/>
            <a:r>
              <a:t>  },</a:t>
            </a:r>
            <a:br/>
            <a:r>
              <a:t>  {</a:t>
            </a:r>
            <a:br/>
            <a:r>
              <a:t>    "id": 2,</a:t>
            </a:r>
            <a:br/>
            <a:r>
              <a:t>    "nome": "Mouse",</a:t>
            </a:r>
            <a:br/>
            <a:r>
              <a:t>    "preco": 80.00,</a:t>
            </a:r>
            <a:br/>
            <a:r>
              <a:t>    "estoque": 50</a:t>
            </a:r>
            <a:br/>
            <a:r>
              <a:t>  }</a:t>
            </a:r>
            <a:br/>
            <a:r>
              <a:t>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O protocolo HTTP conecta as operações CRUD do backend aos métodos de requisição da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3200400"/>
                <a:gridCol w="3870655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Método HTTP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Operação CRUD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Objetivo principal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  <a:latin typeface="Georgia"/>
                        </a:defRPr>
                      </a:pPr>
                      <a:r>
                        <a:t>Exemplo prático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Read (Ler)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Consultar informações sem alterar o servidor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GET /produtos (Buscar lista)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Create (Criar)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Enviar novos dados para cadastro no servidor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POST /produtos (Cadastrar item)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Update (Atualizar)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Atualizar dados de um recurso existente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PUT /produtos/1 (Alterar preço)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512BD4"/>
                          </a:solidFill>
                          <a:latin typeface="Verdana"/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Delete (Excluir)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Remover um recurso do servidor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Verdana"/>
                        </a:defRPr>
                      </a:pPr>
                      <a:r>
                        <a:t>DELETE /produtos/1 (Excluir item)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Os códigos de status HTTP informam rapidamente ao cliente o resultado da requisição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16A34A"/>
                </a:solidFill>
                <a:latin typeface="Georgia"/>
              </a:defRPr>
            </a:pPr>
            <a:r>
              <a:t>2xx • Sucesso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200 OK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Requisição processada com sucesso e dados retornados.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201 Created</a:t>
            </a:r>
          </a:p>
          <a:p>
            <a:pPr>
              <a:spcAft>
                <a:spcPts val="10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Novo recurso cadastrado com sucesso no servidor.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EA580C"/>
                </a:solidFill>
                <a:latin typeface="Georgia"/>
              </a:defRPr>
            </a:pPr>
            <a:r>
              <a:t>4xx • Erro do Cliente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400 Bad Request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Requisição inválida ou com formato incorreto.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401 Unauthorized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Usuário não autenticado no sistema.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403 Forbidden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Sem permissão para acessar o recurso.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404 Not Found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Recurso ou rota não encontrada no servidor.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spcAft>
                <a:spcPts val="1200"/>
              </a:spcAft>
              <a:defRPr sz="1800" b="1">
                <a:solidFill>
                  <a:srgbClr val="DC2626"/>
                </a:solidFill>
                <a:latin typeface="Georgia"/>
              </a:defRPr>
            </a:pPr>
            <a:r>
              <a:t>5xx • Erro do Servidor</a:t>
            </a:r>
          </a:p>
          <a:p>
            <a:pPr>
              <a:defRPr sz="1200" b="1">
                <a:solidFill>
                  <a:srgbClr val="0F172A"/>
                </a:solidFill>
                <a:latin typeface="Verdana"/>
              </a:defRPr>
            </a:pPr>
            <a:r>
              <a:t>• 500 Internal Server Error</a:t>
            </a:r>
          </a:p>
          <a:p>
            <a:pPr>
              <a:defRPr sz="1000">
                <a:solidFill>
                  <a:srgbClr val="64748B"/>
                </a:solidFill>
                <a:latin typeface="Verdana"/>
              </a:defRPr>
            </a:pPr>
            <a:r>
              <a:t>  Falha unexpected no processamento interno do servidor (ex: exceção não tratada no código).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INTRODUÇÃO AO BACKEND .NET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A plataforma .NET unifica a linguagem C#, o framework ASP.NET Core e o VS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2000" b="1">
                <a:solidFill>
                  <a:srgbClr val="512BD4"/>
                </a:solidFill>
                <a:latin typeface="Georgia"/>
              </a:defRPr>
            </a:pPr>
            <a:r>
              <a:t>C#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  <a:latin typeface="Verdana"/>
              </a:defRPr>
            </a:pPr>
            <a:r>
              <a:t>Linguagem de Programação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Linguagem moderna, orientada a objetos, fortemente tipada e desenvolvida pela Microsoft para alta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2000" b="1">
                <a:solidFill>
                  <a:srgbClr val="512BD4"/>
                </a:solidFill>
                <a:latin typeface="Georgia"/>
              </a:defRPr>
            </a:pPr>
            <a:r>
              <a:t>.NET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  <a:latin typeface="Verdana"/>
              </a:defRPr>
            </a:pPr>
            <a:r>
              <a:t>Plataforma / Ecossistema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Ambiente de desenvolvimento e runtime unificado para executar aplicações em Windows, Linux e macOS.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2000" b="1">
                <a:solidFill>
                  <a:srgbClr val="512BD4"/>
                </a:solidFill>
                <a:latin typeface="Georgia"/>
              </a:defRPr>
            </a:pPr>
            <a:r>
              <a:t>ASP.NET Core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  <a:latin typeface="Verdana"/>
              </a:defRPr>
            </a:pPr>
            <a:r>
              <a:t>Framework Web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Framework do ecossistema .NET específico para a criação de aplicações Web, APIs RESTful e microserviços.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82880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2000" b="1">
                <a:solidFill>
                  <a:srgbClr val="512BD4"/>
                </a:solidFill>
                <a:latin typeface="Georgia"/>
              </a:defRPr>
            </a:pPr>
            <a:r>
              <a:t>VS Code</a:t>
            </a:r>
          </a:p>
          <a:p>
            <a:pPr>
              <a:spcAft>
                <a:spcPts val="1400"/>
              </a:spcAft>
              <a:defRPr sz="1000" b="1">
                <a:solidFill>
                  <a:srgbClr val="64748B"/>
                </a:solidFill>
                <a:latin typeface="Verdana"/>
              </a:defRPr>
            </a:pPr>
            <a:r>
              <a:t>Editor de Código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Editor leve, multiplataforma e extensível onde escreveremos e depuraremos o código C#.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PARTE PRÁTICA • 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A verificação do SDK .NET no terminal é o primeiro passo da parte prática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Comandos de Verificação do .NET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1. Abrir Terminal no VS Code:</a:t>
            </a:r>
            <a:br/>
            <a:r>
              <a:t>   Terminal -&gt; New Terminal</a:t>
            </a:r>
            <a:br/>
            <a:br/>
            <a:r>
              <a:t>2. Verificar versão do SDK:</a:t>
            </a:r>
            <a:br/>
            <a:r>
              <a:t>   dotnet --version</a:t>
            </a:r>
            <a:br/>
            <a:br/>
            <a:r>
              <a:t>   Resultado esperado:</a:t>
            </a:r>
            <a:br/>
            <a:r>
              <a:t>   10.0.xxx (ou similar)</a:t>
            </a:r>
            <a:br/>
            <a:br/>
            <a:r>
              <a:t>3. Detalhes do ambiente:</a:t>
            </a:r>
            <a:br/>
            <a:r>
              <a:t>   dotnet --info</a:t>
            </a:r>
            <a:br/>
            <a:r>
              <a:t>   (Exibe SDKs e Runtimes instalados)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Atenção ao Ambiente e Extensões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⚠️ Alerta Importante:</a:t>
            </a:r>
            <a:br/>
            <a:r>
              <a:t>VS Code instalado ≠ .NET instalado.</a:t>
            </a:r>
            <a:br/>
            <a:r>
              <a:t>Se o terminal retornar 'command not found', o SDK do .NET precisa ser instalado na máquina.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📦 Extensão C# oficial da Microsoft no VS Code:</a:t>
            </a:r>
            <a:br/>
            <a:r>
              <a:t>• Reconhecimento e sintaxe da linguagem</a:t>
            </a:r>
            <a:br/>
            <a:r>
              <a:t>• Autocomplete e destaque de erros em tempo real</a:t>
            </a:r>
            <a:br/>
            <a:r>
              <a:t>• Suporte a depuração (Debugging)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PARTE PRÁTICA •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O projeto Console valida a execução de C# no terminal antes de criar APIs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Passo a Passo no Terminal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1. Criar novo projeto Console: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dotnet new console -n PrimeiroBackend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2. Entrar na pasta criada: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cd PrimeiroBackend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3. Abrir no VS Code: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code 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4. Executar o programa: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dotnet run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Edição do Arquivo Program.cs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// Altere o Program.cs original para:</a:t>
            </a:r>
            <a:br/>
            <a:br/>
            <a:r>
              <a:t>Console.WriteLine("Olá, turma!");</a:t>
            </a:r>
            <a:br/>
            <a:r>
              <a:t>Console.WriteLine("Nosso ambiente .NET está funcionando.");</a:t>
            </a:r>
            <a:br/>
            <a:br/>
            <a:br/>
            <a:r>
              <a:t>// Executar com:</a:t>
            </a:r>
            <a:br/>
            <a:r>
              <a:t>// dotnet run</a:t>
            </a:r>
            <a:br/>
            <a:br/>
            <a:r>
              <a:t>// Resultado no Terminal:</a:t>
            </a:r>
            <a:br/>
            <a:r>
              <a:t>// Olá, turma!</a:t>
            </a:r>
            <a:br/>
            <a:r>
              <a:t>// Nosso ambiente .NET está funcionando.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PARTE PRÁTICA • MINIMAL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O template Minimal API do ASP.NET Core permite criar um servidor web funcional rapidamente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Criando o Projeto Web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1. Criar projeto Web mínimo: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dotnet new web -n MinhaPrimeiraApi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2. Entrar na pasta: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cd MinhaPrimeiraApi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3. Executar o servidor: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dotnet run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4. Acessar no navegador:</a:t>
            </a:r>
          </a:p>
          <a:p>
            <a:pPr>
              <a:spcAft>
                <a:spcPts val="800"/>
              </a:spcAft>
              <a:defRPr sz="1100">
                <a:solidFill>
                  <a:srgbClr val="512BD4"/>
                </a:solidFill>
                <a:latin typeface="Consolas"/>
              </a:defRPr>
            </a:pPr>
            <a:r>
              <a:t>   http://localhost:5000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  <a:latin typeface="Georgia"/>
              </a:defRPr>
            </a:pPr>
            <a:r>
              <a:t>Código em Program.cs (Minimal API)</a:t>
            </a:r>
          </a:p>
          <a:p>
            <a:pPr>
              <a:spcAft>
                <a:spcPts val="1400"/>
              </a:spcAft>
              <a:defRPr sz="1200">
                <a:solidFill>
                  <a:srgbClr val="38BDF8"/>
                </a:solidFill>
                <a:latin typeface="Consolas"/>
              </a:defRPr>
            </a:pPr>
            <a:r>
              <a:t>var builder = WebApplication.CreateBuilder(args);</a:t>
            </a:r>
            <a:br/>
            <a:r>
              <a:t>var app = builder.Build();</a:t>
            </a:r>
            <a:br/>
            <a:br/>
            <a:r>
              <a:t>app.MapGet("/", () =&gt; "Minha primeira API está funcionando!");</a:t>
            </a:r>
            <a:br/>
            <a:br/>
            <a:r>
              <a:t>app.Run();</a:t>
            </a:r>
          </a:p>
          <a:p>
            <a:pPr>
              <a:defRPr sz="1000">
                <a:solidFill>
                  <a:srgbClr val="94A3B8"/>
                </a:solidFill>
                <a:latin typeface="Verdana"/>
              </a:defRPr>
            </a:pPr>
            <a:r>
              <a:t>💡 O navegador atua como cliente fazendo uma requisição HTTP GET para a raiz '/' do servidor local.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PARTE PRÁTICA •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O ASP.NET Core converte automaticamente objetos C# em respostas estruturadas em 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9436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Adicionando Novos Endpoints no Program.cs</a:t>
            </a:r>
          </a:p>
          <a:p>
            <a:pPr>
              <a:defRPr sz="1100">
                <a:solidFill>
                  <a:srgbClr val="38BDF8"/>
                </a:solidFill>
                <a:latin typeface="Consolas"/>
              </a:defRPr>
            </a:pPr>
            <a:r>
              <a:t>app.MapGet("/", () =&gt; "API funcionando!");</a:t>
            </a:r>
            <a:br/>
            <a:br/>
            <a:r>
              <a:t>// Rota de texto simples</a:t>
            </a:r>
            <a:br/>
            <a:r>
              <a:t>app.MapGet("/aluno", () =&gt; "Olá, aluno da FATEC!");</a:t>
            </a:r>
            <a:br/>
            <a:br/>
            <a:r>
              <a:t>// Rota retornando Objeto Anônimo (Serializado em JSON)</a:t>
            </a:r>
            <a:br/>
            <a:r>
              <a:t>app.MapGet("/produto", () =&gt;</a:t>
            </a:r>
            <a:br/>
            <a:r>
              <a:t>{</a:t>
            </a:r>
            <a:br/>
            <a:r>
              <a:t>    return new</a:t>
            </a:r>
            <a:br/>
            <a:r>
              <a:t>    {</a:t>
            </a:r>
            <a:br/>
            <a:r>
              <a:t>        id = 1,</a:t>
            </a:r>
            <a:br/>
            <a:r>
              <a:t>        nome = "Notebook",</a:t>
            </a:r>
            <a:br/>
            <a:r>
              <a:t>        preco = 3500</a:t>
            </a:r>
            <a:br/>
            <a:r>
              <a:t>    };</a:t>
            </a:r>
            <a:br/>
            <a:r>
              <a:t>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45107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Como Funciona o Retorno JSON</a:t>
            </a:r>
          </a:p>
          <a:p>
            <a:pPr>
              <a:spcAft>
                <a:spcPts val="1000"/>
              </a:spcAft>
              <a:defRPr sz="1100" b="1">
                <a:solidFill>
                  <a:srgbClr val="0F172A"/>
                </a:solidFill>
                <a:latin typeface="Verdana"/>
              </a:defRPr>
            </a:pPr>
            <a:r>
              <a:t>1. Teste no Navegador:</a:t>
            </a:r>
            <a:br/>
            <a:r>
              <a:t>Acesse http://localhost:5000/produto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Verdana"/>
              </a:defRPr>
            </a:pPr>
            <a:r>
              <a:t>2. Serialização Automática:</a:t>
            </a:r>
            <a:br/>
            <a:r>
              <a:t>Ao retornar um objeto C# (`new { ... }`), o ASP.NET Core automaticamente o converte para o formato JSON.</a:t>
            </a:r>
          </a:p>
          <a:p>
            <a:pPr>
              <a:defRPr sz="1100">
                <a:solidFill>
                  <a:srgbClr val="512BD4"/>
                </a:solidFill>
                <a:latin typeface="Verdana"/>
              </a:defRPr>
            </a:pPr>
            <a:r>
              <a:t>3. Resposta em JSON no Cliente:</a:t>
            </a:r>
            <a:br/>
            <a:r>
              <a:t>{</a:t>
            </a:r>
            <a:br/>
            <a:r>
              <a:t>  "id": 1,</a:t>
            </a:r>
            <a:br/>
            <a:r>
              <a:t>  "nome": "Notebook",</a:t>
            </a:r>
            <a:br/>
            <a:r>
              <a:t>  "preco": 3500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512BD4"/>
                </a:solidFill>
                <a:latin typeface="Verdana"/>
              </a:defRPr>
            </a:pPr>
            <a:r>
              <a:t>PARTE PRÁTICA • PARÂMETROS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0F172A"/>
                </a:solidFill>
                <a:latin typeface="Georgia"/>
              </a:defRPr>
            </a:pPr>
            <a:r>
              <a:t>Parâmetros na rota permitem que o cliente envie dados dinâmicos na própria URL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943600" cy="438912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Endpoint com Parâmetro de Rota</a:t>
            </a:r>
          </a:p>
          <a:p>
            <a:pPr>
              <a:defRPr sz="1200">
                <a:solidFill>
                  <a:srgbClr val="38BDF8"/>
                </a:solidFill>
                <a:latin typeface="Consolas"/>
              </a:defRPr>
            </a:pPr>
            <a:r>
              <a:t>// Rota dinâmica que recebe um ID na URL</a:t>
            </a:r>
            <a:br/>
            <a:br/>
            <a:r>
              <a:t>app.MapGet("/produto/{id}", (int id) =&gt;</a:t>
            </a:r>
            <a:br/>
            <a:r>
              <a:t>{</a:t>
            </a:r>
            <a:br/>
            <a:r>
              <a:t>    return new</a:t>
            </a:r>
            <a:br/>
            <a:r>
              <a:t>    {</a:t>
            </a:r>
            <a:br/>
            <a:r>
              <a:t>        id = id,</a:t>
            </a:r>
            <a:br/>
            <a:r>
              <a:t>        nome = "Produto " + id,</a:t>
            </a:r>
            <a:br/>
            <a:r>
              <a:t>        preco = 100</a:t>
            </a:r>
            <a:br/>
            <a:r>
              <a:t>    };</a:t>
            </a:r>
            <a:br/>
            <a:r>
              <a:t>});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828800"/>
            <a:ext cx="451073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512BD4"/>
                </a:solidFill>
                <a:latin typeface="Georgia"/>
              </a:defRPr>
            </a:pPr>
            <a:r>
              <a:t>Testando Rotas Dinâmicas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Teste: http://localhost:5000/produto/1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Retorna ID = 1, Nome = 'Produto 1'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Teste: http://localhost:5000/produto/5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Retorna ID = 5, Nome = 'Produto 5'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Teste: http://localhost:5000/produto/20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  <a:latin typeface="Verdana"/>
              </a:defRPr>
            </a:pPr>
            <a:r>
              <a:t>  Retorna ID = 20, Nome = 'Produto 20'</a:t>
            </a:r>
          </a:p>
          <a:p>
            <a:pPr>
              <a:defRPr sz="1100" b="1">
                <a:solidFill>
                  <a:srgbClr val="512BD4"/>
                </a:solidFill>
                <a:latin typeface="Verdana"/>
              </a:defRPr>
            </a:pPr>
            <a:r>
              <a:t>💡 O parâmetro `{id}` é capturado da URL e convertido automaticamente para o tipo `int` na função C#.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000" b="1">
                <a:solidFill>
                  <a:srgbClr val="C7D2FE"/>
                </a:solidFill>
                <a:latin typeface="Verdana"/>
              </a:defRPr>
            </a:pPr>
            <a:r>
              <a:t>ENCERRAMENTO E EVOLUÇÃO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868680"/>
          </a:xfrm>
          <a:prstGeom prst="rect">
            <a:avLst/>
          </a:prstGeom>
          <a:noFill/>
        </p:spPr>
        <p:txBody>
          <a:bodyPr wrap="square" lIns="0" rIns="0">
            <a:normAutofit/>
          </a:bodyPr>
          <a:lstStyle/>
          <a:p>
            <a:pPr>
              <a:defRPr sz="2000" b="1">
                <a:solidFill>
                  <a:srgbClr val="F8FAFC"/>
                </a:solidFill>
                <a:latin typeface="Georgia"/>
              </a:defRPr>
            </a:pPr>
            <a:r>
              <a:t>O aprendizado evolui de dados em memória para banco de dados e integração completa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25400"/>
          </a:xfrm>
          <a:prstGeom prst="rect">
            <a:avLst/>
          </a:prstGeom>
          <a:solidFill>
            <a:srgbClr val="512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512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100" b="1">
                <a:solidFill>
                  <a:srgbClr val="C7D2FE"/>
                </a:solidFill>
                <a:latin typeface="Verdana"/>
              </a:defRPr>
            </a:pPr>
            <a:r>
              <a:t>Etapa 1</a:t>
            </a:r>
          </a:p>
          <a:p>
            <a:pPr>
              <a:defRPr sz="1800" b="1">
                <a:solidFill>
                  <a:srgbClr val="F8FAFC"/>
                </a:solidFill>
                <a:latin typeface="Georgia"/>
              </a:defRPr>
            </a:pPr>
            <a:r>
              <a:t>Aula Atual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  <a:latin typeface="Verdana"/>
              </a:defRPr>
            </a:pPr>
            <a:r>
              <a:t>Primeira API</a:t>
            </a:r>
          </a:p>
          <a:p>
            <a:pPr>
              <a:defRPr sz="1000">
                <a:solidFill>
                  <a:srgbClr val="E2E8F0"/>
                </a:solidFill>
                <a:latin typeface="Verdana"/>
              </a:defRPr>
            </a:pPr>
            <a:r>
              <a:t>Navegador &lt;-&gt; API .NET com dados fixos/mock em memória sem banco de dados.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011680"/>
            <a:ext cx="2468880" cy="411480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512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100" b="1">
                <a:solidFill>
                  <a:srgbClr val="C7D2FE"/>
                </a:solidFill>
                <a:latin typeface="Verdana"/>
              </a:defRPr>
            </a:pPr>
            <a:r>
              <a:t>Etapa 2</a:t>
            </a:r>
          </a:p>
          <a:p>
            <a:pPr>
              <a:defRPr sz="1800" b="1">
                <a:solidFill>
                  <a:srgbClr val="F8FAFC"/>
                </a:solidFill>
                <a:latin typeface="Georgia"/>
              </a:defRPr>
            </a:pPr>
            <a:r>
              <a:t>Próxima Evolução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  <a:latin typeface="Verdana"/>
              </a:defRPr>
            </a:pPr>
            <a:r>
              <a:t>CRUD em Memória</a:t>
            </a:r>
          </a:p>
          <a:p>
            <a:pPr>
              <a:defRPr sz="1000">
                <a:solidFill>
                  <a:srgbClr val="E2E8F0"/>
                </a:solidFill>
                <a:latin typeface="Verdana"/>
              </a:defRPr>
            </a:pPr>
            <a:r>
              <a:t>Implementação de GET e POST manipulando listas de objetos em memória.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2468880" cy="411480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512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100" b="1">
                <a:solidFill>
                  <a:srgbClr val="C7D2FE"/>
                </a:solidFill>
                <a:latin typeface="Verdana"/>
              </a:defRPr>
            </a:pPr>
            <a:r>
              <a:t>Etapa 3</a:t>
            </a:r>
          </a:p>
          <a:p>
            <a:pPr>
              <a:defRPr sz="1800" b="1">
                <a:solidFill>
                  <a:srgbClr val="F8FAFC"/>
                </a:solidFill>
                <a:latin typeface="Georgia"/>
              </a:defRPr>
            </a:pPr>
            <a:r>
              <a:t>Conexão BD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  <a:latin typeface="Verdana"/>
              </a:defRPr>
            </a:pPr>
            <a:r>
              <a:t>Banco de Dados</a:t>
            </a:r>
          </a:p>
          <a:p>
            <a:pPr>
              <a:defRPr sz="1000">
                <a:solidFill>
                  <a:srgbClr val="E2E8F0"/>
                </a:solidFill>
                <a:latin typeface="Verdana"/>
              </a:defRPr>
            </a:pPr>
            <a:r>
              <a:t>Conexão da API .NET com banco de dados relacional para persistência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011680"/>
            <a:ext cx="2468880" cy="411480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512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100" b="1">
                <a:solidFill>
                  <a:srgbClr val="C7D2FE"/>
                </a:solidFill>
                <a:latin typeface="Verdana"/>
              </a:defRPr>
            </a:pPr>
            <a:r>
              <a:t>Etapa 4</a:t>
            </a:r>
          </a:p>
          <a:p>
            <a:pPr>
              <a:defRPr sz="1800" b="1">
                <a:solidFill>
                  <a:srgbClr val="F8FAFC"/>
                </a:solidFill>
                <a:latin typeface="Georgia"/>
              </a:defRPr>
            </a:pPr>
            <a:r>
              <a:t>Integração Total</a:t>
            </a:r>
          </a:p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  <a:latin typeface="Verdana"/>
              </a:defRPr>
            </a:pPr>
            <a:r>
              <a:t>Frontend + Backend</a:t>
            </a:r>
          </a:p>
          <a:p>
            <a:pPr>
              <a:defRPr sz="1000">
                <a:solidFill>
                  <a:srgbClr val="E2E8F0"/>
                </a:solidFill>
                <a:latin typeface="Verdana"/>
              </a:defRPr>
            </a:pPr>
            <a:r>
              <a:t>Aplicação completa: JS (`fetch()`) consome a API .NET conectada ao banco.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0" ma:contentTypeDescription="Crie um novo documento." ma:contentTypeScope="" ma:versionID="086a3de7503d2431e57367820aca070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59dbc040a3f85ddd093e31795c9c73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D21A17-DA6D-4496-B38D-5B1B01B69A13}"/>
</file>

<file path=customXml/itemProps2.xml><?xml version="1.0" encoding="utf-8"?>
<ds:datastoreItem xmlns:ds="http://schemas.openxmlformats.org/officeDocument/2006/customXml" ds:itemID="{BA6C6B1E-4EAF-416E-82D3-5540E222FFBB}"/>
</file>

<file path=customXml/itemProps3.xml><?xml version="1.0" encoding="utf-8"?>
<ds:datastoreItem xmlns:ds="http://schemas.openxmlformats.org/officeDocument/2006/customXml" ds:itemID="{7A5F0B31-570D-4F2D-88B8-C16A527B6A2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</Properties>
</file>